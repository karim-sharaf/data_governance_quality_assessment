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Now Bold" charset="1" panose="00000800000000000000"/>
      <p:regular r:id="rId10"/>
    </p:embeddedFont>
    <p:embeddedFont>
      <p:font typeface="Poppins Bold" charset="1" panose="00000800000000000000"/>
      <p:regular r:id="rId11"/>
    </p:embeddedFont>
    <p:embeddedFont>
      <p:font typeface="Now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B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94502" y="-1173191"/>
            <a:ext cx="2730336" cy="2346382"/>
            <a:chOff x="0" y="0"/>
            <a:chExt cx="8128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42E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9493636" y="2489503"/>
            <a:ext cx="11283867" cy="6304861"/>
          </a:xfrm>
          <a:custGeom>
            <a:avLst/>
            <a:gdLst/>
            <a:ahLst/>
            <a:cxnLst/>
            <a:rect r="r" b="b" t="t" l="l"/>
            <a:pathLst>
              <a:path h="6304861" w="11283867">
                <a:moveTo>
                  <a:pt x="0" y="0"/>
                </a:moveTo>
                <a:lnTo>
                  <a:pt x="11283867" y="0"/>
                </a:lnTo>
                <a:lnTo>
                  <a:pt x="11283867" y="6304861"/>
                </a:lnTo>
                <a:lnTo>
                  <a:pt x="0" y="630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494502" y="-458029"/>
            <a:ext cx="7948791" cy="6830992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3"/>
              <a:stretch>
                <a:fillRect l="-26559" t="0" r="-26559" b="0"/>
              </a:stretch>
            </a:blipFill>
            <a:ln w="161925" cap="sq">
              <a:solidFill>
                <a:srgbClr val="042EA2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666605" y="5777755"/>
            <a:ext cx="11819739" cy="988600"/>
            <a:chOff x="0" y="0"/>
            <a:chExt cx="7288399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88399" cy="609600"/>
            </a:xfrm>
            <a:custGeom>
              <a:avLst/>
              <a:gdLst/>
              <a:ahLst/>
              <a:cxnLst/>
              <a:rect r="r" b="b" t="t" l="l"/>
              <a:pathLst>
                <a:path h="609600" w="7288399">
                  <a:moveTo>
                    <a:pt x="203200" y="0"/>
                  </a:moveTo>
                  <a:lnTo>
                    <a:pt x="7288399" y="0"/>
                  </a:lnTo>
                  <a:lnTo>
                    <a:pt x="708519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42EA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7085199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5943823"/>
            <a:ext cx="8570194" cy="58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5"/>
              </a:lnSpc>
            </a:pPr>
            <a:r>
              <a:rPr lang="en-US" b="true" sz="3399" spc="44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DATA GOVERNANCE 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663692"/>
            <a:ext cx="7890384" cy="289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75"/>
              </a:lnSpc>
            </a:pPr>
            <a:r>
              <a:rPr lang="en-US" b="true" sz="9799" spc="-24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Brazilian</a:t>
            </a:r>
            <a:r>
              <a:rPr lang="en-US" b="true" sz="9799" spc="-24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E-Commerce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005391" y="9107805"/>
            <a:ext cx="2730336" cy="2346382"/>
            <a:chOff x="0" y="0"/>
            <a:chExt cx="812800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42EA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19084" y="5051878"/>
            <a:ext cx="6894720" cy="5925150"/>
            <a:chOff x="0" y="0"/>
            <a:chExt cx="812800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4"/>
              <a:stretch>
                <a:fillRect l="-14493" t="0" r="-14493" b="0"/>
              </a:stretch>
            </a:blipFill>
            <a:ln w="161925" cap="sq">
              <a:solidFill>
                <a:srgbClr val="042EA2"/>
              </a:solidFill>
              <a:prstDash val="solid"/>
              <a:miter/>
            </a:ln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7706992" y="1028700"/>
            <a:ext cx="2445221" cy="597615"/>
          </a:xfrm>
          <a:custGeom>
            <a:avLst/>
            <a:gdLst/>
            <a:ahLst/>
            <a:cxnLst/>
            <a:rect r="r" b="b" t="t" l="l"/>
            <a:pathLst>
              <a:path h="597615" w="2445221">
                <a:moveTo>
                  <a:pt x="0" y="0"/>
                </a:moveTo>
                <a:lnTo>
                  <a:pt x="2445221" y="0"/>
                </a:lnTo>
                <a:lnTo>
                  <a:pt x="2445221" y="597615"/>
                </a:lnTo>
                <a:lnTo>
                  <a:pt x="0" y="5976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123923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313797" y="8668686"/>
            <a:ext cx="2445221" cy="597615"/>
          </a:xfrm>
          <a:custGeom>
            <a:avLst/>
            <a:gdLst/>
            <a:ahLst/>
            <a:cxnLst/>
            <a:rect r="r" b="b" t="t" l="l"/>
            <a:pathLst>
              <a:path h="597615" w="2445221">
                <a:moveTo>
                  <a:pt x="0" y="0"/>
                </a:moveTo>
                <a:lnTo>
                  <a:pt x="2445221" y="0"/>
                </a:lnTo>
                <a:lnTo>
                  <a:pt x="2445221" y="597615"/>
                </a:lnTo>
                <a:lnTo>
                  <a:pt x="0" y="5976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123923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772673" y="3964769"/>
            <a:ext cx="963054" cy="827625"/>
            <a:chOff x="0" y="0"/>
            <a:chExt cx="812800" cy="698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42EA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B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44604" y="6309210"/>
            <a:ext cx="3178015" cy="3698054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42E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52997" y="661431"/>
            <a:ext cx="1895233" cy="2205362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42EA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-5400000">
            <a:off x="-2841367" y="2489503"/>
            <a:ext cx="11283867" cy="6304861"/>
          </a:xfrm>
          <a:custGeom>
            <a:avLst/>
            <a:gdLst/>
            <a:ahLst/>
            <a:cxnLst/>
            <a:rect r="r" b="b" t="t" l="l"/>
            <a:pathLst>
              <a:path h="6304861" w="11283867">
                <a:moveTo>
                  <a:pt x="11283867" y="6304861"/>
                </a:moveTo>
                <a:lnTo>
                  <a:pt x="0" y="6304861"/>
                </a:lnTo>
                <a:lnTo>
                  <a:pt x="0" y="0"/>
                </a:lnTo>
                <a:lnTo>
                  <a:pt x="11283867" y="0"/>
                </a:lnTo>
                <a:lnTo>
                  <a:pt x="11283867" y="6304861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1028700"/>
            <a:ext cx="7072312" cy="8229600"/>
            <a:chOff x="0" y="0"/>
            <a:chExt cx="6985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3"/>
              <a:stretch>
                <a:fillRect l="-37327" t="0" r="-37327" b="0"/>
              </a:stretch>
            </a:blipFill>
            <a:ln w="161925" cap="sq">
              <a:solidFill>
                <a:srgbClr val="042EA2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803757" y="1028700"/>
            <a:ext cx="2445221" cy="597615"/>
          </a:xfrm>
          <a:custGeom>
            <a:avLst/>
            <a:gdLst/>
            <a:ahLst/>
            <a:cxnLst/>
            <a:rect r="r" b="b" t="t" l="l"/>
            <a:pathLst>
              <a:path h="597615" w="2445221">
                <a:moveTo>
                  <a:pt x="0" y="0"/>
                </a:moveTo>
                <a:lnTo>
                  <a:pt x="2445221" y="0"/>
                </a:lnTo>
                <a:lnTo>
                  <a:pt x="2445221" y="597615"/>
                </a:lnTo>
                <a:lnTo>
                  <a:pt x="0" y="597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23923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07737" y="8660685"/>
            <a:ext cx="2445221" cy="597615"/>
          </a:xfrm>
          <a:custGeom>
            <a:avLst/>
            <a:gdLst/>
            <a:ahLst/>
            <a:cxnLst/>
            <a:rect r="r" b="b" t="t" l="l"/>
            <a:pathLst>
              <a:path h="597615" w="2445221">
                <a:moveTo>
                  <a:pt x="0" y="0"/>
                </a:moveTo>
                <a:lnTo>
                  <a:pt x="2445221" y="0"/>
                </a:lnTo>
                <a:lnTo>
                  <a:pt x="2445221" y="597615"/>
                </a:lnTo>
                <a:lnTo>
                  <a:pt x="0" y="597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23923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803757" y="4007589"/>
            <a:ext cx="6741060" cy="455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024"/>
              </a:lnSpc>
              <a:buFont typeface="Arial"/>
              <a:buChar char="•"/>
            </a:pPr>
            <a:r>
              <a:rPr lang="en-US" sz="2100" spc="4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Ma</a:t>
            </a:r>
            <a:r>
              <a:rPr lang="en-US" sz="2100" spc="4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in dataset: Brazilian E‑Commerce Public Dataset by Olist (Kaggle).</a:t>
            </a:r>
          </a:p>
          <a:p>
            <a:pPr algn="l" marL="453390" indent="-226695" lvl="1">
              <a:lnSpc>
                <a:spcPts val="3024"/>
              </a:lnSpc>
              <a:buFont typeface="Arial"/>
              <a:buChar char="•"/>
            </a:pPr>
            <a:r>
              <a:rPr lang="en-US" sz="2100" spc="4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Scope: ~100k orders from 2016–2018 across Brazilian online marketplaces.</a:t>
            </a:r>
          </a:p>
          <a:p>
            <a:pPr algn="l" marL="453390" indent="-226695" lvl="1">
              <a:lnSpc>
                <a:spcPts val="3024"/>
              </a:lnSpc>
              <a:buFont typeface="Arial"/>
              <a:buChar char="•"/>
            </a:pPr>
            <a:r>
              <a:rPr lang="en-US" sz="2100" spc="4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Joined tables used: orders, customers, payments, and reviews to create one consolidated transaction‑level table.</a:t>
            </a:r>
          </a:p>
          <a:p>
            <a:pPr algn="l" marL="453390" indent="-226695" lvl="1">
              <a:lnSpc>
                <a:spcPts val="3024"/>
              </a:lnSpc>
              <a:buFont typeface="Arial"/>
              <a:buChar char="•"/>
            </a:pPr>
            <a:r>
              <a:rPr lang="en-US" sz="2100" spc="4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Extra attributes: Added synthetic customer email, phone, address, age, gender, income, and segment from a retail dataset to enable richer data governance scenarios</a:t>
            </a:r>
          </a:p>
          <a:p>
            <a:pPr algn="l">
              <a:lnSpc>
                <a:spcPts val="302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803757" y="2163488"/>
            <a:ext cx="7766539" cy="2121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 spc="-17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7200" spc="-17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ata Description</a:t>
            </a:r>
          </a:p>
          <a:p>
            <a:pPr algn="l">
              <a:lnSpc>
                <a:spcPts val="8064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491196" y="6996003"/>
            <a:ext cx="1944162" cy="2262297"/>
            <a:chOff x="0" y="0"/>
            <a:chExt cx="6985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42EA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B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8500569" y="1342622"/>
            <a:ext cx="12667801" cy="7078134"/>
          </a:xfrm>
          <a:custGeom>
            <a:avLst/>
            <a:gdLst/>
            <a:ahLst/>
            <a:cxnLst/>
            <a:rect r="r" b="b" t="t" l="l"/>
            <a:pathLst>
              <a:path h="7078134" w="12667801">
                <a:moveTo>
                  <a:pt x="12667802" y="0"/>
                </a:moveTo>
                <a:lnTo>
                  <a:pt x="0" y="0"/>
                </a:lnTo>
                <a:lnTo>
                  <a:pt x="0" y="7078135"/>
                </a:lnTo>
                <a:lnTo>
                  <a:pt x="12667802" y="7078135"/>
                </a:lnTo>
                <a:lnTo>
                  <a:pt x="1266780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67567" y="-558595"/>
            <a:ext cx="2326512" cy="1999346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42EA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893620"/>
            <a:ext cx="2445221" cy="597615"/>
          </a:xfrm>
          <a:custGeom>
            <a:avLst/>
            <a:gdLst/>
            <a:ahLst/>
            <a:cxnLst/>
            <a:rect r="r" b="b" t="t" l="l"/>
            <a:pathLst>
              <a:path h="597615" w="2445221">
                <a:moveTo>
                  <a:pt x="0" y="0"/>
                </a:moveTo>
                <a:lnTo>
                  <a:pt x="2445221" y="0"/>
                </a:lnTo>
                <a:lnTo>
                  <a:pt x="2445221" y="597615"/>
                </a:lnTo>
                <a:lnTo>
                  <a:pt x="0" y="5976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12392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3985" y="2814317"/>
            <a:ext cx="7447011" cy="308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885" indent="-263442" lvl="1">
              <a:lnSpc>
                <a:spcPts val="3514"/>
              </a:lnSpc>
              <a:buFont typeface="Arial"/>
              <a:buChar char="•"/>
            </a:pP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Aut</a:t>
            </a: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o EDA using YData‑Profiling (and Sweetviz) to summarize the dataset.</a:t>
            </a:r>
          </a:p>
          <a:p>
            <a:pPr algn="l" marL="526885" indent="-263442" lvl="1">
              <a:lnSpc>
                <a:spcPts val="3514"/>
              </a:lnSpc>
              <a:buFont typeface="Arial"/>
              <a:buChar char="•"/>
            </a:pP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Got quick view of types, missing values, distributions, correlations.</a:t>
            </a:r>
          </a:p>
          <a:p>
            <a:pPr algn="l" marL="526885" indent="-263442" lvl="1">
              <a:lnSpc>
                <a:spcPts val="3514"/>
              </a:lnSpc>
              <a:buFont typeface="Arial"/>
              <a:buChar char="•"/>
            </a:pP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Identified quality issues and sensitive fields for later governance steps.</a:t>
            </a:r>
          </a:p>
          <a:p>
            <a:pPr algn="l">
              <a:lnSpc>
                <a:spcPts val="351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43985" y="1540764"/>
            <a:ext cx="8840712" cy="164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2"/>
              </a:lnSpc>
            </a:pPr>
            <a:r>
              <a:rPr lang="en-US" sz="5600" spc="-1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5600" spc="-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hase 1 – Data Profiling</a:t>
            </a:r>
          </a:p>
          <a:p>
            <a:pPr algn="l">
              <a:lnSpc>
                <a:spcPts val="627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532824" y="1540764"/>
            <a:ext cx="8840712" cy="243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2"/>
              </a:lnSpc>
            </a:pPr>
            <a:r>
              <a:rPr lang="en-US" sz="5600" spc="-1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5600" spc="-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hase 1 – Data Cleaning</a:t>
            </a:r>
          </a:p>
          <a:p>
            <a:pPr algn="l">
              <a:lnSpc>
                <a:spcPts val="6272"/>
              </a:lnSpc>
            </a:pPr>
          </a:p>
          <a:p>
            <a:pPr algn="l">
              <a:lnSpc>
                <a:spcPts val="627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2592937"/>
            <a:ext cx="9336965" cy="3524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885" indent="-263442" lvl="1">
              <a:lnSpc>
                <a:spcPts val="3514"/>
              </a:lnSpc>
              <a:buFont typeface="Arial"/>
              <a:buChar char="•"/>
            </a:pP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Rem</a:t>
            </a: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oved logically inconsistent rows (e.g., delivered orders without delivery date).</a:t>
            </a:r>
          </a:p>
          <a:p>
            <a:pPr algn="l" marL="526885" indent="-263442" lvl="1">
              <a:lnSpc>
                <a:spcPts val="3514"/>
              </a:lnSpc>
              <a:buFont typeface="Arial"/>
              <a:buChar char="•"/>
            </a:pP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F</a:t>
            </a: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illed key timestamps and dropped low‑value text columns.</a:t>
            </a:r>
          </a:p>
          <a:p>
            <a:pPr algn="l" marL="526885" indent="-263442" lvl="1">
              <a:lnSpc>
                <a:spcPts val="3514"/>
              </a:lnSpc>
              <a:buFont typeface="Arial"/>
              <a:buChar char="•"/>
            </a:pP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</a:t>
            </a: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ngineered delivery_time and removed extreme outliers using IQR.</a:t>
            </a:r>
          </a:p>
          <a:p>
            <a:pPr algn="l" marL="526885" indent="-263442" lvl="1">
              <a:lnSpc>
                <a:spcPts val="3514"/>
              </a:lnSpc>
              <a:buFont typeface="Arial"/>
              <a:buChar char="•"/>
            </a:pP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Saved final cleaned dataset: cleaned_olist_data.csv.</a:t>
            </a:r>
          </a:p>
          <a:p>
            <a:pPr algn="l">
              <a:lnSpc>
                <a:spcPts val="351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447211" y="5886879"/>
            <a:ext cx="8840712" cy="164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2"/>
              </a:lnSpc>
            </a:pPr>
            <a:r>
              <a:rPr lang="en-US" sz="5600" spc="-1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5600" spc="-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hase 1 – Data Validation</a:t>
            </a:r>
          </a:p>
          <a:p>
            <a:pPr algn="l">
              <a:lnSpc>
                <a:spcPts val="627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527697" y="6762152"/>
            <a:ext cx="11514002" cy="3524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885" indent="-263442" lvl="1">
              <a:lnSpc>
                <a:spcPts val="3514"/>
              </a:lnSpc>
              <a:buFont typeface="Arial"/>
              <a:buChar char="•"/>
            </a:pP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Pandera:</a:t>
            </a: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 schema checks (types, ranges, age and score bounds).</a:t>
            </a:r>
          </a:p>
          <a:p>
            <a:pPr algn="l" marL="526885" indent="-263442" lvl="1">
              <a:lnSpc>
                <a:spcPts val="3514"/>
              </a:lnSpc>
              <a:buFont typeface="Arial"/>
              <a:buChar char="•"/>
            </a:pP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Great Expectations: column expectations (no nulls, allowed sets, positive payments).</a:t>
            </a:r>
          </a:p>
          <a:p>
            <a:pPr algn="l" marL="526885" indent="-263442" lvl="1">
              <a:lnSpc>
                <a:spcPts val="3514"/>
              </a:lnSpc>
              <a:buFont typeface="Arial"/>
              <a:buChar char="•"/>
            </a:pP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Cerberus: row‑level rule checks for numeric ranges and allowed categories.</a:t>
            </a:r>
          </a:p>
          <a:p>
            <a:pPr algn="l" marL="526885" indent="-263442" lvl="1">
              <a:lnSpc>
                <a:spcPts val="3514"/>
              </a:lnSpc>
              <a:buFont typeface="Arial"/>
              <a:buChar char="•"/>
            </a:pP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R</a:t>
            </a:r>
            <a:r>
              <a:rPr lang="en-US" sz="2440" spc="48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esult: Dataset passes structural, range, and business‑rule validations before Phase 2.</a:t>
            </a:r>
          </a:p>
          <a:p>
            <a:pPr algn="l">
              <a:lnSpc>
                <a:spcPts val="351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4B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36934" y="4987909"/>
            <a:ext cx="6115661" cy="846745"/>
            <a:chOff x="0" y="0"/>
            <a:chExt cx="4402868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02868" cy="609600"/>
            </a:xfrm>
            <a:custGeom>
              <a:avLst/>
              <a:gdLst/>
              <a:ahLst/>
              <a:cxnLst/>
              <a:rect r="r" b="b" t="t" l="l"/>
              <a:pathLst>
                <a:path h="609600" w="4402868">
                  <a:moveTo>
                    <a:pt x="203200" y="0"/>
                  </a:moveTo>
                  <a:lnTo>
                    <a:pt x="4402868" y="0"/>
                  </a:lnTo>
                  <a:lnTo>
                    <a:pt x="4199668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42E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47625"/>
              <a:ext cx="4199668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78727" y="4987909"/>
            <a:ext cx="5091688" cy="846745"/>
            <a:chOff x="0" y="0"/>
            <a:chExt cx="3665675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65675" cy="609600"/>
            </a:xfrm>
            <a:custGeom>
              <a:avLst/>
              <a:gdLst/>
              <a:ahLst/>
              <a:cxnLst/>
              <a:rect r="r" b="b" t="t" l="l"/>
              <a:pathLst>
                <a:path h="609600" w="3665675">
                  <a:moveTo>
                    <a:pt x="203200" y="0"/>
                  </a:moveTo>
                  <a:lnTo>
                    <a:pt x="3665675" y="0"/>
                  </a:lnTo>
                  <a:lnTo>
                    <a:pt x="3462475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42EA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3462475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5400000">
            <a:off x="8230240" y="414032"/>
            <a:ext cx="12667801" cy="7078134"/>
          </a:xfrm>
          <a:custGeom>
            <a:avLst/>
            <a:gdLst/>
            <a:ahLst/>
            <a:cxnLst/>
            <a:rect r="r" b="b" t="t" l="l"/>
            <a:pathLst>
              <a:path h="7078134" w="12667801">
                <a:moveTo>
                  <a:pt x="12667801" y="0"/>
                </a:moveTo>
                <a:lnTo>
                  <a:pt x="0" y="0"/>
                </a:lnTo>
                <a:lnTo>
                  <a:pt x="0" y="7078134"/>
                </a:lnTo>
                <a:lnTo>
                  <a:pt x="12667801" y="7078134"/>
                </a:lnTo>
                <a:lnTo>
                  <a:pt x="1266780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70415" y="6060093"/>
            <a:ext cx="4246101" cy="3793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024"/>
              </a:lnSpc>
              <a:buFont typeface="Arial"/>
              <a:buChar char="•"/>
            </a:pPr>
            <a:r>
              <a:rPr lang="en-US" sz="2100" spc="4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GDPR:</a:t>
            </a:r>
            <a:r>
              <a:rPr lang="en-US" sz="2100" spc="4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 pseudonymization, age generalization, and “right to erasure” view.</a:t>
            </a:r>
          </a:p>
          <a:p>
            <a:pPr algn="l" marL="453390" indent="-226695" lvl="1">
              <a:lnSpc>
                <a:spcPts val="3024"/>
              </a:lnSpc>
              <a:buFont typeface="Arial"/>
              <a:buChar char="•"/>
            </a:pPr>
            <a:r>
              <a:rPr lang="en-US" sz="2100" spc="4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CCPA: PII inventory and opt‑out registry controlling data sharing.</a:t>
            </a:r>
          </a:p>
          <a:p>
            <a:pPr algn="l" marL="453390" indent="-226695" lvl="1">
              <a:lnSpc>
                <a:spcPts val="3024"/>
              </a:lnSpc>
              <a:buFont typeface="Arial"/>
              <a:buChar char="•"/>
            </a:pPr>
            <a:r>
              <a:rPr lang="en-US" sz="2100" spc="4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HIPAA: de‑identified PHI‑like fields and implemented an access audit log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68124" y="4987909"/>
            <a:ext cx="4248392" cy="846745"/>
            <a:chOff x="0" y="0"/>
            <a:chExt cx="3058558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58558" cy="609600"/>
            </a:xfrm>
            <a:custGeom>
              <a:avLst/>
              <a:gdLst/>
              <a:ahLst/>
              <a:cxnLst/>
              <a:rect r="r" b="b" t="t" l="l"/>
              <a:pathLst>
                <a:path h="609600" w="3058558">
                  <a:moveTo>
                    <a:pt x="203200" y="0"/>
                  </a:moveTo>
                  <a:lnTo>
                    <a:pt x="3058558" y="0"/>
                  </a:lnTo>
                  <a:lnTo>
                    <a:pt x="2855358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42EA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47625"/>
              <a:ext cx="2855358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603790" y="4927412"/>
            <a:ext cx="3912726" cy="91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2500" spc="325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REGULATORY DEMOS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029789" y="441078"/>
            <a:ext cx="5362609" cy="6240127"/>
            <a:chOff x="0" y="0"/>
            <a:chExt cx="6985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3"/>
              <a:stretch>
                <a:fillRect l="-37327" t="0" r="-37327" b="0"/>
              </a:stretch>
            </a:blipFill>
            <a:ln w="161925" cap="sq">
              <a:solidFill>
                <a:srgbClr val="042EA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867567" y="-558595"/>
            <a:ext cx="2326512" cy="1999346"/>
            <a:chOff x="0" y="0"/>
            <a:chExt cx="812800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42EA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24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760493" y="3953099"/>
            <a:ext cx="1667537" cy="597615"/>
          </a:xfrm>
          <a:custGeom>
            <a:avLst/>
            <a:gdLst/>
            <a:ahLst/>
            <a:cxnLst/>
            <a:rect r="r" b="b" t="t" l="l"/>
            <a:pathLst>
              <a:path h="597615" w="1667537">
                <a:moveTo>
                  <a:pt x="0" y="0"/>
                </a:moveTo>
                <a:lnTo>
                  <a:pt x="1667537" y="0"/>
                </a:lnTo>
                <a:lnTo>
                  <a:pt x="1667537" y="597615"/>
                </a:lnTo>
                <a:lnTo>
                  <a:pt x="0" y="597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6636" t="0" r="0" b="-123923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02955" y="1864169"/>
            <a:ext cx="12160021" cy="99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2799" spc="5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G</a:t>
            </a:r>
            <a:r>
              <a:rPr lang="en-US" sz="2799" spc="5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oal: Protect sensitive customer data and align the dataset with key privacy regulations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745426"/>
            <a:ext cx="13577560" cy="164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2"/>
              </a:lnSpc>
            </a:pPr>
            <a:r>
              <a:rPr lang="en-US" sz="5600" spc="-1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5600" spc="-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hase 2 – Privacy &amp; Security Overview</a:t>
            </a:r>
          </a:p>
          <a:p>
            <a:pPr algn="l">
              <a:lnSpc>
                <a:spcPts val="6272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758370" y="3943574"/>
            <a:ext cx="6686348" cy="85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2"/>
              </a:lnSpc>
            </a:pPr>
            <a:r>
              <a:rPr lang="en-US" b="true" sz="5600" spc="-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Skills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8370" y="5159822"/>
            <a:ext cx="4420356" cy="44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2500" spc="325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DATA SECURITY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8370" y="5869593"/>
            <a:ext cx="4246101" cy="2650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024"/>
              </a:lnSpc>
              <a:buFont typeface="Arial"/>
              <a:buChar char="•"/>
            </a:pPr>
            <a:r>
              <a:rPr lang="en-US" sz="2100" spc="4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Hashed identifiers, contacts, and passwords using SHA‑256.</a:t>
            </a:r>
          </a:p>
          <a:p>
            <a:pPr algn="l" marL="453390" indent="-226695" lvl="1">
              <a:lnSpc>
                <a:spcPts val="3024"/>
              </a:lnSpc>
              <a:buFont typeface="Arial"/>
              <a:buChar char="•"/>
            </a:pPr>
            <a:r>
              <a:rPr lang="en-US" sz="2100" spc="4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Implemented RSA encryption/decryption from scratch and tested on customer emails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14393" y="5159822"/>
            <a:ext cx="4420356" cy="44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2500" spc="325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ACCESS CONTROL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14393" y="6060093"/>
            <a:ext cx="4246101" cy="2269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024"/>
              </a:lnSpc>
              <a:buFont typeface="Arial"/>
              <a:buChar char="•"/>
            </a:pPr>
            <a:r>
              <a:rPr lang="en-US" sz="2100" spc="4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D</a:t>
            </a:r>
            <a:r>
              <a:rPr lang="en-US" sz="2100" spc="42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esigned ABAC‑style policies with roles (Admin, Analyst, Marketing, Guest) and logged all access decisions.</a:t>
            </a:r>
          </a:p>
          <a:p>
            <a:pPr algn="l">
              <a:lnSpc>
                <a:spcPts val="3024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DAHJYrRRPIs</dc:identifier>
  <dcterms:modified xsi:type="dcterms:W3CDTF">2011-08-01T06:04:30Z</dcterms:modified>
  <cp:revision>1</cp:revision>
  <dc:title>Brazilian E-Commerce Project </dc:title>
</cp:coreProperties>
</file>